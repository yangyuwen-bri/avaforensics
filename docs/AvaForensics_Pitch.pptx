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1" roundtripDataSignature="AMtx7mgHNbEMTPyOzaXFlBHziTz96i73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customschemas.google.com/relationships/presentationmetadata" Target="metadata"/><Relationship Id="rId10" Type="http://schemas.openxmlformats.org/officeDocument/2006/relationships/slide" Target="slides/slide6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1143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2286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3429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"/>
          <p:cNvSpPr/>
          <p:nvPr/>
        </p:nvSpPr>
        <p:spPr>
          <a:xfrm>
            <a:off x="5715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6858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8001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1"/>
          <p:cNvSpPr/>
          <p:nvPr/>
        </p:nvSpPr>
        <p:spPr>
          <a:xfrm>
            <a:off x="9144000" y="0"/>
            <a:ext cx="4572" cy="5143500"/>
          </a:xfrm>
          <a:prstGeom prst="rect">
            <a:avLst/>
          </a:pr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474720" y="731520"/>
            <a:ext cx="2194560" cy="21945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>
              <a:alpha val="1215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7" name="Google Shape;27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0" y="1005840"/>
            <a:ext cx="9144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1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AvaForensics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AI-Driven Risk Intelligence for the Avalanche Ecosystem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200400" y="3611880"/>
            <a:ext cx="2743200" cy="27432"/>
          </a:xfrm>
          <a:prstGeom prst="rect">
            <a:avLst/>
          </a:prstGeom>
          <a:solidFill>
            <a:srgbClr val="0080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1"/>
          <p:cNvSpPr/>
          <p:nvPr/>
        </p:nvSpPr>
        <p:spPr>
          <a:xfrm>
            <a:off x="914400" y="37490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Turning digital graveyard data into ecosystem survival intelligence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0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1"/>
          <p:cNvSpPr/>
          <p:nvPr/>
        </p:nvSpPr>
        <p:spPr>
          <a:xfrm>
            <a:off x="0" y="484632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Build Games 2026 · Avalanche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Billions Lost. Patterns Ignored.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65760" y="1325880"/>
            <a:ext cx="2560320" cy="137160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2"/>
          <p:cNvSpPr/>
          <p:nvPr/>
        </p:nvSpPr>
        <p:spPr>
          <a:xfrm>
            <a:off x="438912" y="1435608"/>
            <a:ext cx="2414016" cy="75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90%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438912" y="2148840"/>
            <a:ext cx="241401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of Web3 projects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fail eventually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291840" y="1325880"/>
            <a:ext cx="2560320" cy="137160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FFD32A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364992" y="1435608"/>
            <a:ext cx="2414016" cy="75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2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D32A"/>
                </a:solidFill>
                <a:latin typeface="Calibri"/>
                <a:ea typeface="Calibri"/>
                <a:cs typeface="Calibri"/>
                <a:sym typeface="Calibri"/>
              </a:rPr>
              <a:t>$2.1B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364992" y="2148840"/>
            <a:ext cx="241401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lost to hacks &amp; scams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on-chain in 2024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6217920" y="1325880"/>
            <a:ext cx="2560320" cy="137160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6291072" y="1435608"/>
            <a:ext cx="2414016" cy="75438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170+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291072" y="2148840"/>
            <a:ext cx="2414016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dead protocols found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on Avalanche alone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65760" y="2926080"/>
            <a:ext cx="84124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On Avalanche, projects like Blizz Finance ($1.3B peak TVL) and Yeti Finance ($740M peak TVL)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collapsed to zero — yet no tool predicted it. The warning signs were there. Nobody was watching.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365760" y="3794760"/>
            <a:ext cx="8412480" cy="77724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65760" y="3794760"/>
            <a:ext cx="54864" cy="77724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2"/>
          <p:cNvSpPr/>
          <p:nvPr/>
        </p:nvSpPr>
        <p:spPr>
          <a:xfrm>
            <a:off x="548640" y="3886200"/>
            <a:ext cx="80467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"These death patterns are not random — they are predictable. The data was always there. The tool wasn't."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0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3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3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THE INSIGHT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Dead Projects Leave Fingerprints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457200" y="1143000"/>
            <a:ext cx="8229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We analyzed 422 Avalanche protocols. 3 early warning signals predict failure with </a:t>
            </a:r>
            <a:r>
              <a:rPr b="1" i="0" lang="en-US" sz="15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AUC 0.74</a:t>
            </a:r>
            <a:r>
              <a:rPr b="0" i="0" lang="en-US" sz="13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74320" y="1645920"/>
            <a:ext cx="2788920" cy="265176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/>
          <p:nvPr/>
        </p:nvSpPr>
        <p:spPr>
          <a:xfrm>
            <a:off x="411480" y="173736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475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3"/>
          <p:cNvSpPr/>
          <p:nvPr/>
        </p:nvSpPr>
        <p:spPr>
          <a:xfrm>
            <a:off x="411480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0E1A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384048" y="230428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Peak Appears on Day 1–3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384048" y="27432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Dying projects hit their TVL peak within the first 5% of their lifespan — then collapse immediately. Healthy projects grow for weeks before peaking.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384048" y="3749040"/>
            <a:ext cx="2560320" cy="457200"/>
          </a:xfrm>
          <a:prstGeom prst="rect">
            <a:avLst/>
          </a:prstGeom>
          <a:solidFill>
            <a:srgbClr val="050E1A"/>
          </a:solidFill>
          <a:ln cap="flat" cmpd="sng" w="10150">
            <a:solidFill>
              <a:srgbClr val="FF475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411480" y="3749040"/>
            <a:ext cx="2505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dead: day 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4757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4757"/>
                </a:solidFill>
                <a:latin typeface="Calibri"/>
                <a:ea typeface="Calibri"/>
                <a:cs typeface="Calibri"/>
                <a:sym typeface="Calibri"/>
              </a:rPr>
              <a:t>alive: day 42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218688" y="1645920"/>
            <a:ext cx="2788920" cy="265176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FFD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355848" y="173736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FFD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3355848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0E1A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3328416" y="230428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97% TVL Gone in 90 Days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3328416" y="27432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Dead protocols retain only 3.6% of peak TVL after 90 days. Surviving protocols retain 56%. The gap is visible within the first 3 months.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3328416" y="3749040"/>
            <a:ext cx="2560320" cy="457200"/>
          </a:xfrm>
          <a:prstGeom prst="rect">
            <a:avLst/>
          </a:prstGeom>
          <a:solidFill>
            <a:srgbClr val="050E1A"/>
          </a:solidFill>
          <a:ln cap="flat" cmpd="sng" w="10150">
            <a:solidFill>
              <a:srgbClr val="FFD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3355848" y="3749040"/>
            <a:ext cx="2505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2A"/>
                </a:solidFill>
                <a:latin typeface="Calibri"/>
                <a:ea typeface="Calibri"/>
                <a:cs typeface="Calibri"/>
                <a:sym typeface="Calibri"/>
              </a:rPr>
              <a:t>dead: 3.6%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D32A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D32A"/>
                </a:solidFill>
                <a:latin typeface="Calibri"/>
                <a:ea typeface="Calibri"/>
                <a:cs typeface="Calibri"/>
                <a:sym typeface="Calibri"/>
              </a:rPr>
              <a:t>alive: 56%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163056" y="1645920"/>
            <a:ext cx="2788920" cy="265176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3"/>
          <p:cNvSpPr/>
          <p:nvPr/>
        </p:nvSpPr>
        <p:spPr>
          <a:xfrm>
            <a:off x="6300216" y="1737360"/>
            <a:ext cx="457200" cy="457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2ED5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3"/>
          <p:cNvSpPr/>
          <p:nvPr/>
        </p:nvSpPr>
        <p:spPr>
          <a:xfrm>
            <a:off x="6300216" y="17373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50E1A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50E1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272784" y="2304288"/>
            <a:ext cx="2560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Second Half Collapses Early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272784" y="2743200"/>
            <a:ext cx="25603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In dying projects, the second 45 days of TVL is only 29% of the first 45 days. In survivors, it's 95% — meaning they hold value instead of bleeding out.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272784" y="3749040"/>
            <a:ext cx="2560320" cy="457200"/>
          </a:xfrm>
          <a:prstGeom prst="rect">
            <a:avLst/>
          </a:prstGeom>
          <a:solidFill>
            <a:srgbClr val="050E1A"/>
          </a:solidFill>
          <a:ln cap="flat" cmpd="sng" w="10150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3"/>
          <p:cNvSpPr/>
          <p:nvPr/>
        </p:nvSpPr>
        <p:spPr>
          <a:xfrm>
            <a:off x="6300216" y="3749040"/>
            <a:ext cx="250545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D5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D573"/>
                </a:solidFill>
                <a:latin typeface="Calibri"/>
                <a:ea typeface="Calibri"/>
                <a:cs typeface="Calibri"/>
                <a:sym typeface="Calibri"/>
              </a:rPr>
              <a:t>dead: 0.29x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D573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ED573"/>
                </a:solidFill>
                <a:latin typeface="Calibri"/>
                <a:ea typeface="Calibri"/>
                <a:cs typeface="Calibri"/>
                <a:sym typeface="Calibri"/>
              </a:rPr>
              <a:t>alive: 0.95x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All 13 extracted features pass statistical significance (p &lt; 0.01, Mann-Whitney U test)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0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4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THE SOLUTION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457200" y="475488"/>
            <a:ext cx="5029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libri"/>
              <a:buNone/>
            </a:pPr>
            <a:r>
              <a:rPr b="1" i="0" lang="en-US" sz="4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AvaForensics</a:t>
            </a:r>
            <a:endParaRPr b="0" i="0" sz="4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457200" y="1188720"/>
            <a:ext cx="47548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Real-time project health scoring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for the Avalanche ecosystem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303520" y="137160"/>
            <a:ext cx="3657600" cy="4800600"/>
          </a:xfrm>
          <a:prstGeom prst="rect">
            <a:avLst/>
          </a:prstGeom>
          <a:solidFill>
            <a:srgbClr val="0A1929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4"/>
          <p:cNvSpPr/>
          <p:nvPr/>
        </p:nvSpPr>
        <p:spPr>
          <a:xfrm>
            <a:off x="5440680" y="274320"/>
            <a:ext cx="33832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HOW IT 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5486400" y="79552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5486400" y="79552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89320" y="76809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Ingest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989320" y="102412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TVL history, token price &amp; on-chain data from DeFiLlama + Avalanche APIs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650992" y="1207008"/>
            <a:ext cx="54864" cy="530352"/>
          </a:xfrm>
          <a:prstGeom prst="rect">
            <a:avLst/>
          </a:prstGeom>
          <a:solidFill>
            <a:srgbClr val="0080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5486400" y="180136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5486400" y="18013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5989320" y="177393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Extract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5989320" y="202996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13 early-warning features from the first 90 days of project activity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5650992" y="2212848"/>
            <a:ext cx="54864" cy="530352"/>
          </a:xfrm>
          <a:prstGeom prst="rect">
            <a:avLst/>
          </a:prstGeom>
          <a:solidFill>
            <a:srgbClr val="0080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"/>
          <p:cNvSpPr/>
          <p:nvPr/>
        </p:nvSpPr>
        <p:spPr>
          <a:xfrm>
            <a:off x="5486400" y="280720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5486400" y="280720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5989320" y="277977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Score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/>
          <p:nvPr/>
        </p:nvSpPr>
        <p:spPr>
          <a:xfrm>
            <a:off x="5989320" y="303580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ML model (AUC 0.74) outputs 0–100 health score with risk breakdown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650992" y="3218688"/>
            <a:ext cx="54864" cy="530352"/>
          </a:xfrm>
          <a:prstGeom prst="rect">
            <a:avLst/>
          </a:prstGeom>
          <a:solidFill>
            <a:srgbClr val="0080FF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4"/>
          <p:cNvSpPr/>
          <p:nvPr/>
        </p:nvSpPr>
        <p:spPr>
          <a:xfrm>
            <a:off x="5486400" y="3813048"/>
            <a:ext cx="384048" cy="384048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486400" y="381304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989320" y="3785616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Alert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5989320" y="4041648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Live dashboard shows trends — catch decay before it becomes collapse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4"/>
          <p:cNvSpPr/>
          <p:nvPr/>
        </p:nvSpPr>
        <p:spPr>
          <a:xfrm>
            <a:off x="365760" y="1965960"/>
            <a:ext cx="4754880" cy="62179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"/>
          <p:cNvSpPr/>
          <p:nvPr/>
        </p:nvSpPr>
        <p:spPr>
          <a:xfrm>
            <a:off x="365760" y="1965960"/>
            <a:ext cx="54864" cy="621792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4"/>
          <p:cNvSpPr/>
          <p:nvPr/>
        </p:nvSpPr>
        <p:spPr>
          <a:xfrm>
            <a:off x="493776" y="2057400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Gap in Market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4"/>
          <p:cNvSpPr/>
          <p:nvPr/>
        </p:nvSpPr>
        <p:spPr>
          <a:xfrm>
            <a:off x="493776" y="2350008"/>
            <a:ext cx="4553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No existing tool predicts project survival on Avalanche — only contract scanning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365760" y="2679192"/>
            <a:ext cx="4754880" cy="62179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"/>
          <p:cNvSpPr/>
          <p:nvPr/>
        </p:nvSpPr>
        <p:spPr>
          <a:xfrm>
            <a:off x="365760" y="2679192"/>
            <a:ext cx="54864" cy="621792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93776" y="2770632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on Real Data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93776" y="3063240"/>
            <a:ext cx="4553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422 protocols analyzed, 170+ dead projects as training data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4"/>
          <p:cNvSpPr/>
          <p:nvPr/>
        </p:nvSpPr>
        <p:spPr>
          <a:xfrm>
            <a:off x="365760" y="3392424"/>
            <a:ext cx="4754880" cy="62179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4"/>
          <p:cNvSpPr/>
          <p:nvPr/>
        </p:nvSpPr>
        <p:spPr>
          <a:xfrm>
            <a:off x="365760" y="3392424"/>
            <a:ext cx="54864" cy="621792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493776" y="3483864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Avalanche-Native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4"/>
          <p:cNvSpPr/>
          <p:nvPr/>
        </p:nvSpPr>
        <p:spPr>
          <a:xfrm>
            <a:off x="493776" y="3776472"/>
            <a:ext cx="4553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Specialized for AVAX ecosystem, not a generic multi-chain tool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365760" y="4105656"/>
            <a:ext cx="4754880" cy="621792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FFD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4"/>
          <p:cNvSpPr/>
          <p:nvPr/>
        </p:nvSpPr>
        <p:spPr>
          <a:xfrm>
            <a:off x="365760" y="4105656"/>
            <a:ext cx="54864" cy="621792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93776" y="4197096"/>
            <a:ext cx="4553712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Extendable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93776" y="4489704"/>
            <a:ext cx="4553712" cy="146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Token concentration + community signals being added in next phase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0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457200" y="18288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D57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2ED573"/>
                </a:solidFill>
                <a:latin typeface="Calibri"/>
                <a:ea typeface="Calibri"/>
                <a:cs typeface="Calibri"/>
                <a:sym typeface="Calibri"/>
              </a:rPr>
              <a:t>VALUE &amp; MARKET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457200" y="475488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b="1" i="0" lang="en-US" sz="3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Who Needs This — and Why Now</a:t>
            </a:r>
            <a:endParaRPr b="0" i="0" sz="3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365760" y="1325880"/>
            <a:ext cx="4206240" cy="1097280"/>
          </a:xfrm>
          <a:prstGeom prst="rect">
            <a:avLst/>
          </a:prstGeom>
          <a:solidFill>
            <a:srgbClr val="0A1929"/>
          </a:solidFill>
          <a:ln cap="flat" cmpd="sng" w="15225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"/>
          <p:cNvSpPr/>
          <p:nvPr/>
        </p:nvSpPr>
        <p:spPr>
          <a:xfrm>
            <a:off x="365760" y="1325880"/>
            <a:ext cx="54864" cy="109728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512064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Retail Investors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512064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"Should I put money into this protocol?" — instant health check before investing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4800600" y="1325880"/>
            <a:ext cx="4206240" cy="1097280"/>
          </a:xfrm>
          <a:prstGeom prst="rect">
            <a:avLst/>
          </a:prstGeom>
          <a:solidFill>
            <a:srgbClr val="0A1929"/>
          </a:solidFill>
          <a:ln cap="flat" cmpd="sng" w="15225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"/>
          <p:cNvSpPr/>
          <p:nvPr/>
        </p:nvSpPr>
        <p:spPr>
          <a:xfrm>
            <a:off x="4800600" y="1325880"/>
            <a:ext cx="54864" cy="1097280"/>
          </a:xfrm>
          <a:prstGeom prst="rect">
            <a:avLst/>
          </a:prstGeom>
          <a:solidFill>
            <a:srgbClr val="0080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5"/>
          <p:cNvSpPr/>
          <p:nvPr/>
        </p:nvSpPr>
        <p:spPr>
          <a:xfrm>
            <a:off x="4946904" y="141732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DAOs &amp; Funds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5"/>
          <p:cNvSpPr/>
          <p:nvPr/>
        </p:nvSpPr>
        <p:spPr>
          <a:xfrm>
            <a:off x="4946904" y="172821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Due diligence at scale — monitor entire portfolio health scores in a single dashboard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365760" y="2560320"/>
            <a:ext cx="4206240" cy="1097280"/>
          </a:xfrm>
          <a:prstGeom prst="rect">
            <a:avLst/>
          </a:prstGeom>
          <a:solidFill>
            <a:srgbClr val="0A1929"/>
          </a:solidFill>
          <a:ln cap="flat" cmpd="sng" w="15225">
            <a:solidFill>
              <a:srgbClr val="FFD32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365760" y="2560320"/>
            <a:ext cx="54864" cy="1097280"/>
          </a:xfrm>
          <a:prstGeom prst="rect">
            <a:avLst/>
          </a:prstGeom>
          <a:solidFill>
            <a:srgbClr val="FFD3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5"/>
          <p:cNvSpPr/>
          <p:nvPr/>
        </p:nvSpPr>
        <p:spPr>
          <a:xfrm>
            <a:off x="512064" y="26517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Teams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5"/>
          <p:cNvSpPr/>
          <p:nvPr/>
        </p:nvSpPr>
        <p:spPr>
          <a:xfrm>
            <a:off x="512064" y="2962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Self-diagnose early. Catch TVL decay signals before community loses confidence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800600" y="2560320"/>
            <a:ext cx="4206240" cy="1097280"/>
          </a:xfrm>
          <a:prstGeom prst="rect">
            <a:avLst/>
          </a:prstGeom>
          <a:solidFill>
            <a:srgbClr val="0A1929"/>
          </a:solidFill>
          <a:ln cap="flat" cmpd="sng" w="15225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800600" y="2560320"/>
            <a:ext cx="54864" cy="1097280"/>
          </a:xfrm>
          <a:prstGeom prst="rect">
            <a:avLst/>
          </a:prstGeom>
          <a:solidFill>
            <a:srgbClr val="2ED57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5"/>
          <p:cNvSpPr/>
          <p:nvPr/>
        </p:nvSpPr>
        <p:spPr>
          <a:xfrm>
            <a:off x="4946904" y="2651760"/>
            <a:ext cx="39319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Wallets &amp; DEXes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946904" y="2962656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Embed risk scores via API — warn users before they swap into a dying protocol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365760" y="3749040"/>
            <a:ext cx="8412480" cy="777240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548640" y="3822192"/>
            <a:ext cx="20116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ED573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2ED573"/>
                </a:solidFill>
                <a:latin typeface="Calibri"/>
                <a:ea typeface="Calibri"/>
                <a:cs typeface="Calibri"/>
                <a:sym typeface="Calibri"/>
              </a:rPr>
              <a:t>BUSINESS MODEL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48640" y="41148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Free Tier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548640" y="43159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Public health scores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2514600" y="3931920"/>
            <a:ext cx="18288" cy="548640"/>
          </a:xfrm>
          <a:prstGeom prst="rect">
            <a:avLst/>
          </a:prstGeom>
          <a:solidFill>
            <a:srgbClr val="8899A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2606040" y="41148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 Subscription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2606040" y="43159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$20/mo — alerts +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4572000" y="3931920"/>
            <a:ext cx="18288" cy="548640"/>
          </a:xfrm>
          <a:prstGeom prst="rect">
            <a:avLst/>
          </a:prstGeom>
          <a:solidFill>
            <a:srgbClr val="8899A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4663440" y="41148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Institutional API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5"/>
          <p:cNvSpPr/>
          <p:nvPr/>
        </p:nvSpPr>
        <p:spPr>
          <a:xfrm>
            <a:off x="4663440" y="43159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$500+/mo — bulk access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6629400" y="3931920"/>
            <a:ext cx="18288" cy="548640"/>
          </a:xfrm>
          <a:prstGeom prst="rect">
            <a:avLst/>
          </a:prstGeom>
          <a:solidFill>
            <a:srgbClr val="8899AA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6720840" y="4114800"/>
            <a:ext cx="19202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Project Reports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6720840" y="4315968"/>
            <a:ext cx="192024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$200–2000 per audit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80FF">
              <a:alpha val="4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E1A"/>
        </a:solid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/>
          <p:nvPr/>
        </p:nvSpPr>
        <p:spPr>
          <a:xfrm>
            <a:off x="-914400" y="-914400"/>
            <a:ext cx="4572000" cy="4572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80FF">
              <a:alpha val="1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6"/>
          <p:cNvSpPr/>
          <p:nvPr/>
        </p:nvSpPr>
        <p:spPr>
          <a:xfrm>
            <a:off x="6400800" y="2286000"/>
            <a:ext cx="3657600" cy="36576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solidFill>
            <a:srgbClr val="00D4FF">
              <a:alpha val="7843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6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81" name="Google Shape;18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23360" y="548640"/>
            <a:ext cx="1097280" cy="109728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6"/>
          <p:cNvSpPr/>
          <p:nvPr/>
        </p:nvSpPr>
        <p:spPr>
          <a:xfrm>
            <a:off x="457200" y="1783080"/>
            <a:ext cx="82296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AvaForensics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914400" y="2514600"/>
            <a:ext cx="73152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Transforming Avalanche's digital graveyard into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a living early warning system for the ecosystem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1280160" y="3383280"/>
            <a:ext cx="2011680" cy="86868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00D4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"/>
          <p:cNvSpPr/>
          <p:nvPr/>
        </p:nvSpPr>
        <p:spPr>
          <a:xfrm>
            <a:off x="1280160" y="34290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422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1280160" y="38404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Protocols Analyzed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11880" y="3383280"/>
            <a:ext cx="2011680" cy="86868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0080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611880" y="34290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80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0080FF"/>
                </a:solidFill>
                <a:latin typeface="Calibri"/>
                <a:ea typeface="Calibri"/>
                <a:cs typeface="Calibri"/>
                <a:sym typeface="Calibri"/>
              </a:rPr>
              <a:t>0.74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3611880" y="38404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Baseline AUC Score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5943600" y="3383280"/>
            <a:ext cx="2011680" cy="868680"/>
          </a:xfrm>
          <a:prstGeom prst="rect">
            <a:avLst/>
          </a:prstGeom>
          <a:solidFill>
            <a:srgbClr val="0A1929"/>
          </a:solidFill>
          <a:ln cap="flat" cmpd="sng" w="19050">
            <a:solidFill>
              <a:srgbClr val="2ED5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943600" y="342900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ED573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2ED573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5943600" y="3840480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8D8E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C8D8E8"/>
                </a:solidFill>
                <a:latin typeface="Calibri"/>
                <a:ea typeface="Calibri"/>
                <a:cs typeface="Calibri"/>
                <a:sym typeface="Calibri"/>
              </a:rPr>
              <a:t>Significant Features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914400" y="4434840"/>
            <a:ext cx="73152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D4FF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00D4FF"/>
                </a:solidFill>
                <a:latin typeface="Calibri"/>
                <a:ea typeface="Calibri"/>
                <a:cs typeface="Calibri"/>
                <a:sym typeface="Calibri"/>
              </a:rPr>
              <a:t>Let's build the risk layer that Avalanche deserves.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0" y="5052060"/>
            <a:ext cx="9144000" cy="91440"/>
          </a:xfrm>
          <a:prstGeom prst="rect">
            <a:avLst/>
          </a:prstGeom>
          <a:solidFill>
            <a:srgbClr val="00D4FF">
              <a:alpha val="6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0" y="4846320"/>
            <a:ext cx="9144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899AA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8899AA"/>
                </a:solidFill>
                <a:latin typeface="Calibri"/>
                <a:ea typeface="Calibri"/>
                <a:cs typeface="Calibri"/>
                <a:sym typeface="Calibri"/>
              </a:rPr>
              <a:t>Build Games 2026 · Avalanche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2026-02-24T16:47:52Z</dcterms:created>
  <dc:creator>PptxGenJS</dc:creator>
</cp:coreProperties>
</file>